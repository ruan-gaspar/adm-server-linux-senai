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sldIdLst>
    <p:sldId id="256" r:id="rId5"/>
    <p:sldId id="257" r:id="rId6"/>
    <p:sldId id="258" r:id="rId7"/>
    <p:sldId id="259" r:id="rId8"/>
    <p:sldId id="260" r:id="rId9"/>
    <p:sldId id="261" r:id="rId10"/>
    <p:sldId id="262" r:id="rId11"/>
    <p:sldId id="26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pt-BR"/>
              <a:t>Clique para editar o título Mestre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3009414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3"/>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2932220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366341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60D15EDE-A33A-46DD-826F-CA300A106031}" type="datetimeFigureOut">
              <a:rPr lang="pt-BR" smtClean="0"/>
              <a:t>24/02/2026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2974045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60D15EDE-A33A-46DD-826F-CA300A106031}" type="datetimeFigureOut">
              <a:rPr lang="pt-BR" smtClean="0"/>
              <a:t>24/02/2026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414430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7" name="Date Placeholder 2"/>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Footer Placeholder 3"/>
          <p:cNvSpPr>
            <a:spLocks noGrp="1"/>
          </p:cNvSpPr>
          <p:nvPr>
            <p:ph type="ftr" sz="quarter" idx="11"/>
          </p:nvPr>
        </p:nvSpPr>
        <p:spPr/>
        <p:txBody>
          <a:bodyPr/>
          <a:lstStyle/>
          <a:p>
            <a:endParaRPr lang="pt-BR"/>
          </a:p>
        </p:txBody>
      </p:sp>
      <p:sp>
        <p:nvSpPr>
          <p:cNvPr id="6" name="Slide Number Placeholder 4"/>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4231987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Footer Placeholder 2"/>
          <p:cNvSpPr>
            <a:spLocks noGrp="1"/>
          </p:cNvSpPr>
          <p:nvPr>
            <p:ph type="ftr" sz="quarter" idx="11"/>
          </p:nvPr>
        </p:nvSpPr>
        <p:spPr/>
        <p:txBody>
          <a:bodyPr/>
          <a:lstStyle/>
          <a:p>
            <a:endParaRPr lang="pt-BR"/>
          </a:p>
        </p:txBody>
      </p:sp>
      <p:sp>
        <p:nvSpPr>
          <p:cNvPr id="6" name="Slide Number Placeholder 3"/>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2895662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pt-BR"/>
              <a:t>Clique para editar o título Mestre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7" name="Date Placeholder 4"/>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Footer Placeholder 5"/>
          <p:cNvSpPr>
            <a:spLocks noGrp="1"/>
          </p:cNvSpPr>
          <p:nvPr>
            <p:ph type="ftr" sz="quarter" idx="11"/>
          </p:nvPr>
        </p:nvSpPr>
        <p:spPr/>
        <p:txBody>
          <a:bodyPr/>
          <a:lstStyle/>
          <a:p>
            <a:endParaRPr lang="pt-BR"/>
          </a:p>
        </p:txBody>
      </p:sp>
      <p:sp>
        <p:nvSpPr>
          <p:cNvPr id="6" name="Slide Number Placeholder 6"/>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232688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60D15EDE-A33A-46DD-826F-CA300A106031}" type="datetimeFigureOut">
              <a:rPr lang="pt-BR" smtClean="0"/>
              <a:t>24/02/2026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3986560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60D15EDE-A33A-46DD-826F-CA300A106031}" type="datetimeFigureOut">
              <a:rPr lang="pt-BR" smtClean="0"/>
              <a:t>24/02/2026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2163464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pt-BR"/>
              <a:t>Clique para editar o título Mestre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4" name="Date Placeholder 3"/>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37553063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pt-BR"/>
              <a:t>Clique para editar o título Mestre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pt-BR"/>
              <a:t>Editar estilos de texto Mestre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4" name="Date Placeholder 3"/>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7C527C-74FC-49EF-A4FF-8DB2318C4625}" type="slidenum">
              <a:rPr lang="pt-BR" smtClean="0"/>
              <a:t>‹nº›</a:t>
            </a:fld>
            <a:endParaRPr lang="pt-B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77370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31128214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pt-BR"/>
              <a:t>Clique para editar o título Mestre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D15EDE-A33A-46DD-826F-CA300A106031}" type="datetimeFigureOut">
              <a:rPr lang="pt-BR" smtClean="0"/>
              <a:t>24/02/2026</a:t>
            </a:fld>
            <a:endParaRPr lang="pt-BR"/>
          </a:p>
        </p:txBody>
      </p:sp>
      <p:sp>
        <p:nvSpPr>
          <p:cNvPr id="4"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3419915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pt-BR"/>
              <a:t>Clique para editar o título Mestre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D15EDE-A33A-46DD-826F-CA300A106031}" type="datetimeFigureOut">
              <a:rPr lang="pt-BR" smtClean="0"/>
              <a:t>24/02/2026</a:t>
            </a:fld>
            <a:endParaRPr lang="pt-BR"/>
          </a:p>
        </p:txBody>
      </p:sp>
      <p:sp>
        <p:nvSpPr>
          <p:cNvPr id="4"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28828528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nchorCtr="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6505896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pt-BR"/>
              <a:t>Clique para editar o título Mestre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8320769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ítulo e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1077A2-E8FB-4A91-9DEF-85EB1E853CD1}"/>
              </a:ext>
            </a:extLst>
          </p:cNvPr>
          <p:cNvSpPr>
            <a:spLocks noGrp="1"/>
          </p:cNvSpPr>
          <p:nvPr>
            <p:ph type="title"/>
          </p:nvPr>
        </p:nvSpPr>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94766B54-4A9D-4567-BD27-7A1EA18D0AA9}"/>
              </a:ext>
            </a:extLst>
          </p:cNvPr>
          <p:cNvSpPr>
            <a:spLocks noGrp="1"/>
          </p:cNvSpPr>
          <p:nvPr>
            <p:ph type="body"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D5F35C4-1B12-4E82-AB74-876AA126F357}"/>
              </a:ext>
            </a:extLst>
          </p:cNvPr>
          <p:cNvSpPr>
            <a:spLocks noGrp="1"/>
          </p:cNvSpPr>
          <p:nvPr>
            <p:ph type="dt" sz="half" idx="10"/>
          </p:nvPr>
        </p:nvSpPr>
        <p:spPr/>
        <p:txBody>
          <a:bodyPr/>
          <a:lstStyle/>
          <a:p>
            <a:fld id="{60D15EDE-A33A-46DD-826F-CA300A106031}" type="datetimeFigureOut">
              <a:rPr lang="pt-BR" smtClean="0"/>
              <a:t>24/02/2026</a:t>
            </a:fld>
            <a:endParaRPr lang="pt-BR"/>
          </a:p>
        </p:txBody>
      </p:sp>
      <p:sp>
        <p:nvSpPr>
          <p:cNvPr id="5" name="Espaço Reservado para Rodapé 4">
            <a:extLst>
              <a:ext uri="{FF2B5EF4-FFF2-40B4-BE49-F238E27FC236}">
                <a16:creationId xmlns:a16="http://schemas.microsoft.com/office/drawing/2014/main" id="{FEE29566-9ECC-4A28-B705-F0C1224C820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3B31A95-C788-4957-9A6D-548AFDF64C94}"/>
              </a:ext>
            </a:extLst>
          </p:cNvPr>
          <p:cNvSpPr>
            <a:spLocks noGrp="1"/>
          </p:cNvSpPr>
          <p:nvPr>
            <p:ph type="sldNum" sz="quarter" idx="12"/>
          </p:nvPr>
        </p:nvSpPr>
        <p:spPr/>
        <p:txBody>
          <a:bodyPr/>
          <a:lstStyle/>
          <a:p>
            <a:fld id="{227C527C-74FC-49EF-A4FF-8DB2318C4625}" type="slidenum">
              <a:rPr lang="pt-BR" smtClean="0"/>
              <a:t>‹nº›</a:t>
            </a:fld>
            <a:endParaRPr lang="pt-BR"/>
          </a:p>
        </p:txBody>
      </p:sp>
    </p:spTree>
    <p:extLst>
      <p:ext uri="{BB962C8B-B14F-4D97-AF65-F5344CB8AC3E}">
        <p14:creationId xmlns:p14="http://schemas.microsoft.com/office/powerpoint/2010/main" val="3701718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pt-BR"/>
              <a:t>Clique para editar o título Mestre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0D15EDE-A33A-46DD-826F-CA300A106031}" type="datetimeFigureOut">
              <a:rPr lang="pt-BR" smtClean="0"/>
              <a:t>24/02/2026</a:t>
            </a:fld>
            <a:endParaRPr lang="pt-B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pt-B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27C527C-74FC-49EF-A4FF-8DB2318C4625}" type="slidenum">
              <a:rPr lang="pt-BR" smtClean="0"/>
              <a:t>‹nº›</a:t>
            </a:fld>
            <a:endParaRPr lang="pt-BR"/>
          </a:p>
        </p:txBody>
      </p:sp>
    </p:spTree>
    <p:extLst>
      <p:ext uri="{BB962C8B-B14F-4D97-AF65-F5344CB8AC3E}">
        <p14:creationId xmlns:p14="http://schemas.microsoft.com/office/powerpoint/2010/main" val="3979713960"/>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FBE0B8-8F42-41CA-B7A7-275A8CF34A64}"/>
              </a:ext>
            </a:extLst>
          </p:cNvPr>
          <p:cNvSpPr>
            <a:spLocks noGrp="1"/>
          </p:cNvSpPr>
          <p:nvPr>
            <p:ph type="ctrTitle"/>
          </p:nvPr>
        </p:nvSpPr>
        <p:spPr/>
        <p:txBody>
          <a:bodyPr/>
          <a:lstStyle/>
          <a:p>
            <a:r>
              <a:rPr lang="pt-BR" dirty="0">
                <a:effectLst>
                  <a:outerShdw blurRad="38100" dist="38100" dir="2700000" algn="tl">
                    <a:srgbClr val="000000">
                      <a:alpha val="43137"/>
                    </a:srgbClr>
                  </a:outerShdw>
                </a:effectLst>
              </a:rPr>
              <a:t>Serviço TELNET</a:t>
            </a:r>
          </a:p>
        </p:txBody>
      </p:sp>
      <p:sp>
        <p:nvSpPr>
          <p:cNvPr id="3" name="Subtítulo 2">
            <a:extLst>
              <a:ext uri="{FF2B5EF4-FFF2-40B4-BE49-F238E27FC236}">
                <a16:creationId xmlns:a16="http://schemas.microsoft.com/office/drawing/2014/main" id="{1F838A89-C01F-4FD1-8C20-C3BD56BB84F1}"/>
              </a:ext>
            </a:extLst>
          </p:cNvPr>
          <p:cNvSpPr>
            <a:spLocks noGrp="1"/>
          </p:cNvSpPr>
          <p:nvPr>
            <p:ph type="subTitle" idx="1"/>
          </p:nvPr>
        </p:nvSpPr>
        <p:spPr/>
        <p:txBody>
          <a:bodyPr/>
          <a:lstStyle/>
          <a:p>
            <a:r>
              <a:rPr lang="pt-BR" dirty="0">
                <a:effectLst>
                  <a:outerShdw blurRad="38100" dist="38100" dir="2700000" algn="tl">
                    <a:srgbClr val="000000">
                      <a:alpha val="43137"/>
                    </a:srgbClr>
                  </a:outerShdw>
                </a:effectLst>
              </a:rPr>
              <a:t>História, Funcionamento e Utilização</a:t>
            </a:r>
          </a:p>
        </p:txBody>
      </p:sp>
    </p:spTree>
    <p:extLst>
      <p:ext uri="{BB962C8B-B14F-4D97-AF65-F5344CB8AC3E}">
        <p14:creationId xmlns:p14="http://schemas.microsoft.com/office/powerpoint/2010/main" val="407281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C3C82F-67F5-476E-9BEE-C0EC528A5AA0}"/>
              </a:ext>
            </a:extLst>
          </p:cNvPr>
          <p:cNvSpPr>
            <a:spLocks noGrp="1"/>
          </p:cNvSpPr>
          <p:nvPr>
            <p:ph type="title"/>
          </p:nvPr>
        </p:nvSpPr>
        <p:spPr/>
        <p:txBody>
          <a:bodyPr/>
          <a:lstStyle/>
          <a:p>
            <a:r>
              <a:rPr lang="pt-BR" dirty="0">
                <a:effectLst>
                  <a:outerShdw blurRad="38100" dist="38100" dir="2700000" algn="tl">
                    <a:srgbClr val="000000">
                      <a:alpha val="43137"/>
                    </a:srgbClr>
                  </a:outerShdw>
                </a:effectLst>
              </a:rPr>
              <a:t>O que é o Telnet?</a:t>
            </a:r>
          </a:p>
        </p:txBody>
      </p:sp>
      <p:sp>
        <p:nvSpPr>
          <p:cNvPr id="3" name="Espaço Reservado para Texto 2">
            <a:extLst>
              <a:ext uri="{FF2B5EF4-FFF2-40B4-BE49-F238E27FC236}">
                <a16:creationId xmlns:a16="http://schemas.microsoft.com/office/drawing/2014/main" id="{8570B4D4-3C28-43CA-8E6F-30F55DB27DFC}"/>
              </a:ext>
            </a:extLst>
          </p:cNvPr>
          <p:cNvSpPr>
            <a:spLocks noGrp="1"/>
          </p:cNvSpPr>
          <p:nvPr>
            <p:ph type="body" idx="1"/>
          </p:nvPr>
        </p:nvSpPr>
        <p:spPr>
          <a:xfrm>
            <a:off x="1104293" y="1461247"/>
            <a:ext cx="8946541" cy="4195481"/>
          </a:xfrm>
        </p:spPr>
        <p:txBody>
          <a:bodyPr>
            <a:noAutofit/>
          </a:bodyPr>
          <a:lstStyle/>
          <a:p>
            <a:r>
              <a:rPr lang="pt-BR" sz="2400" dirty="0">
                <a:effectLst>
                  <a:outerShdw blurRad="38100" dist="38100" dir="2700000" algn="tl">
                    <a:srgbClr val="000000">
                      <a:alpha val="43137"/>
                    </a:srgbClr>
                  </a:outerShdw>
                </a:effectLst>
              </a:rPr>
              <a:t>Telnet é um dos protocolos mais antigos utilizados para comunicação remota entre computadores. Criado na década de 1960, o Telnet foi um dos primeiros meios de permitir login remoto em servidores e dispositivos de rede, tornando-se um marco fundamental na administração de sistemas. Seu nome deriva de '</a:t>
            </a:r>
            <a:r>
              <a:rPr lang="pt-BR" sz="2400" dirty="0" err="1">
                <a:effectLst>
                  <a:outerShdw blurRad="38100" dist="38100" dir="2700000" algn="tl">
                    <a:srgbClr val="000000">
                      <a:alpha val="43137"/>
                    </a:srgbClr>
                  </a:outerShdw>
                </a:effectLst>
              </a:rPr>
              <a:t>Telecommunication</a:t>
            </a:r>
            <a:r>
              <a:rPr lang="pt-BR" sz="2400" dirty="0">
                <a:effectLst>
                  <a:outerShdw blurRad="38100" dist="38100" dir="2700000" algn="tl">
                    <a:srgbClr val="000000">
                      <a:alpha val="43137"/>
                    </a:srgbClr>
                  </a:outerShdw>
                </a:effectLst>
              </a:rPr>
              <a:t> Network', representando sua proposta original: permitir que um usuário interagisse com computadores remotos como se estivesse fisicamente diante deles. Durante décadas, Telnet foi amplamente utilizado em ambientes corporativos e acadêmicos, sendo essencial para suportes técnicos, administração de redes e acesso remoto a sistemas Unix.</a:t>
            </a:r>
          </a:p>
        </p:txBody>
      </p:sp>
    </p:spTree>
    <p:extLst>
      <p:ext uri="{BB962C8B-B14F-4D97-AF65-F5344CB8AC3E}">
        <p14:creationId xmlns:p14="http://schemas.microsoft.com/office/powerpoint/2010/main" val="1221558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08C687-EBE6-44FF-BB08-46D137936BB2}"/>
              </a:ext>
            </a:extLst>
          </p:cNvPr>
          <p:cNvSpPr>
            <a:spLocks noGrp="1"/>
          </p:cNvSpPr>
          <p:nvPr>
            <p:ph type="title"/>
          </p:nvPr>
        </p:nvSpPr>
        <p:spPr/>
        <p:txBody>
          <a:bodyPr/>
          <a:lstStyle/>
          <a:p>
            <a:r>
              <a:rPr lang="pt-BR" dirty="0">
                <a:effectLst>
                  <a:outerShdw blurRad="38100" dist="38100" dir="2700000" algn="tl">
                    <a:srgbClr val="000000">
                      <a:alpha val="43137"/>
                    </a:srgbClr>
                  </a:outerShdw>
                </a:effectLst>
              </a:rPr>
              <a:t>Como o Telnet Funciona?</a:t>
            </a:r>
          </a:p>
        </p:txBody>
      </p:sp>
      <p:sp>
        <p:nvSpPr>
          <p:cNvPr id="3" name="Espaço Reservado para Texto 2">
            <a:extLst>
              <a:ext uri="{FF2B5EF4-FFF2-40B4-BE49-F238E27FC236}">
                <a16:creationId xmlns:a16="http://schemas.microsoft.com/office/drawing/2014/main" id="{98379058-39DC-49DE-BA73-3EA4D45CFE36}"/>
              </a:ext>
            </a:extLst>
          </p:cNvPr>
          <p:cNvSpPr>
            <a:spLocks noGrp="1"/>
          </p:cNvSpPr>
          <p:nvPr>
            <p:ph type="body" idx="1"/>
          </p:nvPr>
        </p:nvSpPr>
        <p:spPr>
          <a:xfrm>
            <a:off x="1104293" y="1470212"/>
            <a:ext cx="8946541" cy="4195481"/>
          </a:xfrm>
        </p:spPr>
        <p:txBody>
          <a:bodyPr>
            <a:noAutofit/>
          </a:bodyPr>
          <a:lstStyle/>
          <a:p>
            <a:r>
              <a:rPr lang="pt-BR" sz="2400" dirty="0">
                <a:effectLst>
                  <a:outerShdw blurRad="38100" dist="38100" dir="2700000" algn="tl">
                    <a:srgbClr val="000000">
                      <a:alpha val="43137"/>
                    </a:srgbClr>
                  </a:outerShdw>
                </a:effectLst>
              </a:rPr>
              <a:t>O Telnet opera seguindo um modelo cliente-servidor. O servidor Telnet normalmente escuta na porta 23, aguardando conexões. Quando um cliente se conecta, o servidor permite a interação direta com o terminal do sistema remoto. Ao contrário dos protocolos modernos, o Telnet não criptografa a comunicação. Todos os dados, incluindo comandos digitados e senhas, são transmitidos em texto puro. Isso facilita interceptações e ataques conhecidos como </a:t>
            </a:r>
            <a:r>
              <a:rPr lang="pt-BR" sz="2400" dirty="0" err="1">
                <a:effectLst>
                  <a:outerShdw blurRad="38100" dist="38100" dir="2700000" algn="tl">
                    <a:srgbClr val="000000">
                      <a:alpha val="43137"/>
                    </a:srgbClr>
                  </a:outerShdw>
                </a:effectLst>
              </a:rPr>
              <a:t>sniffing</a:t>
            </a:r>
            <a:r>
              <a:rPr lang="pt-BR" sz="2400" dirty="0">
                <a:effectLst>
                  <a:outerShdw blurRad="38100" dist="38100" dir="2700000" algn="tl">
                    <a:srgbClr val="000000">
                      <a:alpha val="43137"/>
                    </a:srgbClr>
                  </a:outerShdw>
                </a:effectLst>
              </a:rPr>
              <a:t>, onde terceiros capturam o tráfego para roubar credenciais. Ainda assim, o Telnet possui um funcionamento simples, rápido e eficiente, permitindo acesso total ao </a:t>
            </a:r>
            <a:r>
              <a:rPr lang="pt-BR" sz="2400" dirty="0" err="1">
                <a:effectLst>
                  <a:outerShdw blurRad="38100" dist="38100" dir="2700000" algn="tl">
                    <a:srgbClr val="000000">
                      <a:alpha val="43137"/>
                    </a:srgbClr>
                  </a:outerShdw>
                </a:effectLst>
              </a:rPr>
              <a:t>shell</a:t>
            </a:r>
            <a:r>
              <a:rPr lang="pt-BR" sz="2400" dirty="0">
                <a:effectLst>
                  <a:outerShdw blurRad="38100" dist="38100" dir="2700000" algn="tl">
                    <a:srgbClr val="000000">
                      <a:alpha val="43137"/>
                    </a:srgbClr>
                  </a:outerShdw>
                </a:effectLst>
              </a:rPr>
              <a:t> do servidor remoto logo após o login.</a:t>
            </a:r>
          </a:p>
        </p:txBody>
      </p:sp>
    </p:spTree>
    <p:extLst>
      <p:ext uri="{BB962C8B-B14F-4D97-AF65-F5344CB8AC3E}">
        <p14:creationId xmlns:p14="http://schemas.microsoft.com/office/powerpoint/2010/main" val="3200945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BDA060-5F71-4391-B1F0-5B32904B0683}"/>
              </a:ext>
            </a:extLst>
          </p:cNvPr>
          <p:cNvSpPr>
            <a:spLocks noGrp="1"/>
          </p:cNvSpPr>
          <p:nvPr>
            <p:ph type="title"/>
          </p:nvPr>
        </p:nvSpPr>
        <p:spPr/>
        <p:txBody>
          <a:bodyPr/>
          <a:lstStyle/>
          <a:p>
            <a:r>
              <a:rPr lang="pt-BR" dirty="0">
                <a:effectLst>
                  <a:outerShdw blurRad="38100" dist="38100" dir="2700000" algn="tl">
                    <a:srgbClr val="000000">
                      <a:alpha val="43137"/>
                    </a:srgbClr>
                  </a:outerShdw>
                </a:effectLst>
              </a:rPr>
              <a:t>Usos Clássicos do Telnet</a:t>
            </a:r>
          </a:p>
        </p:txBody>
      </p:sp>
      <p:sp>
        <p:nvSpPr>
          <p:cNvPr id="3" name="Espaço Reservado para Texto 2">
            <a:extLst>
              <a:ext uri="{FF2B5EF4-FFF2-40B4-BE49-F238E27FC236}">
                <a16:creationId xmlns:a16="http://schemas.microsoft.com/office/drawing/2014/main" id="{36AFA4F6-197F-42A3-B395-2563F6AC670D}"/>
              </a:ext>
            </a:extLst>
          </p:cNvPr>
          <p:cNvSpPr>
            <a:spLocks noGrp="1"/>
          </p:cNvSpPr>
          <p:nvPr>
            <p:ph type="body" idx="1"/>
          </p:nvPr>
        </p:nvSpPr>
        <p:spPr>
          <a:xfrm>
            <a:off x="1104293" y="1452283"/>
            <a:ext cx="8946541" cy="4195481"/>
          </a:xfrm>
        </p:spPr>
        <p:txBody>
          <a:bodyPr>
            <a:noAutofit/>
          </a:bodyPr>
          <a:lstStyle/>
          <a:p>
            <a:r>
              <a:rPr lang="pt-BR" sz="2400" dirty="0">
                <a:effectLst>
                  <a:outerShdw blurRad="38100" dist="38100" dir="2700000" algn="tl">
                    <a:srgbClr val="000000">
                      <a:alpha val="43137"/>
                    </a:srgbClr>
                  </a:outerShdw>
                </a:effectLst>
              </a:rPr>
              <a:t>Durante muitos anos, o Telnet foi utilizado como ferramenta principal de administração de equipamentos de rede, como roteadores, switches e servidores Unix. Em ambientes acadêmicos, Telnet era usado para acessar sistemas multiusuário, permitir operação de mainframes e executar programas remotos. Administradores dependiam dele para alterações de configuração, gerenciamento de arquivos e monitoramento de processos. Além disso, Telnet foi amplamente usado para acessar serviços remotos baseados em texto, como bibliotecas digitais, bancos de dados e até sistemas de e-mail. A simplicidade do Telnet fez dele uma ferramenta poderosa em uma época com recursos limitados.</a:t>
            </a:r>
          </a:p>
        </p:txBody>
      </p:sp>
    </p:spTree>
    <p:extLst>
      <p:ext uri="{BB962C8B-B14F-4D97-AF65-F5344CB8AC3E}">
        <p14:creationId xmlns:p14="http://schemas.microsoft.com/office/powerpoint/2010/main" val="3199180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68966B-07EF-4E1B-B1CD-F47306B01B71}"/>
              </a:ext>
            </a:extLst>
          </p:cNvPr>
          <p:cNvSpPr>
            <a:spLocks noGrp="1"/>
          </p:cNvSpPr>
          <p:nvPr>
            <p:ph type="title"/>
          </p:nvPr>
        </p:nvSpPr>
        <p:spPr/>
        <p:txBody>
          <a:bodyPr/>
          <a:lstStyle/>
          <a:p>
            <a:r>
              <a:rPr lang="pt-BR" dirty="0">
                <a:effectLst>
                  <a:outerShdw blurRad="38100" dist="38100" dir="2700000" algn="tl">
                    <a:srgbClr val="000000">
                      <a:alpha val="43137"/>
                    </a:srgbClr>
                  </a:outerShdw>
                </a:effectLst>
              </a:rPr>
              <a:t>Problemas de Segurança</a:t>
            </a:r>
          </a:p>
        </p:txBody>
      </p:sp>
      <p:sp>
        <p:nvSpPr>
          <p:cNvPr id="3" name="Espaço Reservado para Texto 2">
            <a:extLst>
              <a:ext uri="{FF2B5EF4-FFF2-40B4-BE49-F238E27FC236}">
                <a16:creationId xmlns:a16="http://schemas.microsoft.com/office/drawing/2014/main" id="{6A2AE08C-E798-4ECD-A473-8D22FBB02149}"/>
              </a:ext>
            </a:extLst>
          </p:cNvPr>
          <p:cNvSpPr>
            <a:spLocks noGrp="1"/>
          </p:cNvSpPr>
          <p:nvPr>
            <p:ph type="body" idx="1"/>
          </p:nvPr>
        </p:nvSpPr>
        <p:spPr>
          <a:xfrm>
            <a:off x="1104293" y="1568824"/>
            <a:ext cx="8946541" cy="4195481"/>
          </a:xfrm>
        </p:spPr>
        <p:txBody>
          <a:bodyPr>
            <a:noAutofit/>
          </a:bodyPr>
          <a:lstStyle/>
          <a:p>
            <a:r>
              <a:rPr lang="pt-BR" sz="2400" dirty="0">
                <a:effectLst>
                  <a:outerShdw blurRad="38100" dist="38100" dir="2700000" algn="tl">
                    <a:srgbClr val="000000">
                      <a:alpha val="43137"/>
                    </a:srgbClr>
                  </a:outerShdw>
                </a:effectLst>
              </a:rPr>
              <a:t>Apesar de seu valor histórico, Telnet apresenta sérias vulnerabilidades. O protocolo não utiliza criptografia, o que significa que qualquer pessoa com acesso ao tráfego da rede pode capturar informações sensíveis. Isso inclui não apenas senhas, mas também comandos executados e dados transmitidos. Além disso, ataques como </a:t>
            </a:r>
            <a:r>
              <a:rPr lang="pt-BR" sz="2400" dirty="0" err="1">
                <a:effectLst>
                  <a:outerShdw blurRad="38100" dist="38100" dir="2700000" algn="tl">
                    <a:srgbClr val="000000">
                      <a:alpha val="43137"/>
                    </a:srgbClr>
                  </a:outerShdw>
                </a:effectLst>
              </a:rPr>
              <a:t>hijacking</a:t>
            </a:r>
            <a:r>
              <a:rPr lang="pt-BR" sz="2400" dirty="0">
                <a:effectLst>
                  <a:outerShdw blurRad="38100" dist="38100" dir="2700000" algn="tl">
                    <a:srgbClr val="000000">
                      <a:alpha val="43137"/>
                    </a:srgbClr>
                  </a:outerShdw>
                </a:effectLst>
              </a:rPr>
              <a:t> de sessão e </a:t>
            </a:r>
            <a:r>
              <a:rPr lang="pt-BR" sz="2400" dirty="0" err="1">
                <a:effectLst>
                  <a:outerShdw blurRad="38100" dist="38100" dir="2700000" algn="tl">
                    <a:srgbClr val="000000">
                      <a:alpha val="43137"/>
                    </a:srgbClr>
                  </a:outerShdw>
                </a:effectLst>
              </a:rPr>
              <a:t>spoofing</a:t>
            </a:r>
            <a:r>
              <a:rPr lang="pt-BR" sz="2400" dirty="0">
                <a:effectLst>
                  <a:outerShdw blurRad="38100" dist="38100" dir="2700000" algn="tl">
                    <a:srgbClr val="000000">
                      <a:alpha val="43137"/>
                    </a:srgbClr>
                  </a:outerShdw>
                </a:effectLst>
              </a:rPr>
              <a:t> são extremamente fáceis de realizar. Por esse motivo, o uso do Telnet em redes modernas é fortemente desencorajado. A maioria das organizações bloqueia a porta 23 por padrão e recomenda alternativas mais seguras como SSH. Em ambientes corporativos, Telnet é considerado obsoleto e inseguro.</a:t>
            </a:r>
          </a:p>
        </p:txBody>
      </p:sp>
    </p:spTree>
    <p:extLst>
      <p:ext uri="{BB962C8B-B14F-4D97-AF65-F5344CB8AC3E}">
        <p14:creationId xmlns:p14="http://schemas.microsoft.com/office/powerpoint/2010/main" val="1029717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CD6C04-2D80-47DD-970F-C4ADF98DDEB9}"/>
              </a:ext>
            </a:extLst>
          </p:cNvPr>
          <p:cNvSpPr>
            <a:spLocks noGrp="1"/>
          </p:cNvSpPr>
          <p:nvPr>
            <p:ph type="title"/>
          </p:nvPr>
        </p:nvSpPr>
        <p:spPr/>
        <p:txBody>
          <a:bodyPr/>
          <a:lstStyle/>
          <a:p>
            <a:r>
              <a:rPr lang="pt-BR" dirty="0">
                <a:effectLst>
                  <a:outerShdw blurRad="38100" dist="38100" dir="2700000" algn="tl">
                    <a:srgbClr val="000000">
                      <a:alpha val="43137"/>
                    </a:srgbClr>
                  </a:outerShdw>
                </a:effectLst>
              </a:rPr>
              <a:t>Alternativas ao Telnet</a:t>
            </a:r>
          </a:p>
        </p:txBody>
      </p:sp>
      <p:sp>
        <p:nvSpPr>
          <p:cNvPr id="3" name="Espaço Reservado para Texto 2">
            <a:extLst>
              <a:ext uri="{FF2B5EF4-FFF2-40B4-BE49-F238E27FC236}">
                <a16:creationId xmlns:a16="http://schemas.microsoft.com/office/drawing/2014/main" id="{C28677FE-DF73-484A-A165-E627A78C997F}"/>
              </a:ext>
            </a:extLst>
          </p:cNvPr>
          <p:cNvSpPr>
            <a:spLocks noGrp="1"/>
          </p:cNvSpPr>
          <p:nvPr>
            <p:ph type="body" idx="1"/>
          </p:nvPr>
        </p:nvSpPr>
        <p:spPr>
          <a:xfrm>
            <a:off x="1104293" y="1470212"/>
            <a:ext cx="8946541" cy="4195481"/>
          </a:xfrm>
        </p:spPr>
        <p:txBody>
          <a:bodyPr>
            <a:noAutofit/>
          </a:bodyPr>
          <a:lstStyle/>
          <a:p>
            <a:r>
              <a:rPr lang="pt-BR" sz="2400" dirty="0">
                <a:effectLst>
                  <a:outerShdw blurRad="38100" dist="38100" dir="2700000" algn="tl">
                    <a:srgbClr val="000000">
                      <a:alpha val="43137"/>
                    </a:srgbClr>
                  </a:outerShdw>
                </a:effectLst>
              </a:rPr>
              <a:t>Com o avanço das ameaças digitais, protocolos mais seguros substituíram o Telnet. O principal substituto é o SSH (</a:t>
            </a:r>
            <a:r>
              <a:rPr lang="pt-BR" sz="2400" dirty="0" err="1">
                <a:effectLst>
                  <a:outerShdw blurRad="38100" dist="38100" dir="2700000" algn="tl">
                    <a:srgbClr val="000000">
                      <a:alpha val="43137"/>
                    </a:srgbClr>
                  </a:outerShdw>
                </a:effectLst>
              </a:rPr>
              <a:t>Secure</a:t>
            </a:r>
            <a:r>
              <a:rPr lang="pt-BR" sz="2400" dirty="0">
                <a:effectLst>
                  <a:outerShdw blurRad="38100" dist="38100" dir="2700000" algn="tl">
                    <a:srgbClr val="000000">
                      <a:alpha val="43137"/>
                    </a:srgbClr>
                  </a:outerShdw>
                </a:effectLst>
              </a:rPr>
              <a:t> Shell), que oferece criptografia robusta e métodos de autenticação modernos. Diferente do Telnet, o SSH protege todas as comunicações, evita ataques de interceptação e permite funções avançadas como tunelamento seguro e transferência criptografada de arquivos através do SFTP. Por isso, o SSH se tornou o padrão para administração remota de servidores e redes. Mesmo assim, Telnet ainda pode ser usado em ambientes de teste, laboratórios ou para comunicação com dispositivos legados que não suportam SSH.</a:t>
            </a:r>
          </a:p>
        </p:txBody>
      </p:sp>
    </p:spTree>
    <p:extLst>
      <p:ext uri="{BB962C8B-B14F-4D97-AF65-F5344CB8AC3E}">
        <p14:creationId xmlns:p14="http://schemas.microsoft.com/office/powerpoint/2010/main" val="3602377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E46332-2798-4BB6-A063-C17D092D4045}"/>
              </a:ext>
            </a:extLst>
          </p:cNvPr>
          <p:cNvSpPr>
            <a:spLocks noGrp="1"/>
          </p:cNvSpPr>
          <p:nvPr>
            <p:ph type="title"/>
          </p:nvPr>
        </p:nvSpPr>
        <p:spPr/>
        <p:txBody>
          <a:bodyPr/>
          <a:lstStyle/>
          <a:p>
            <a:r>
              <a:rPr lang="pt-BR" dirty="0">
                <a:effectLst>
                  <a:outerShdw blurRad="38100" dist="38100" dir="2700000" algn="tl">
                    <a:srgbClr val="000000">
                      <a:alpha val="43137"/>
                    </a:srgbClr>
                  </a:outerShdw>
                </a:effectLst>
              </a:rPr>
              <a:t>O Telnet nos Dias Atuais</a:t>
            </a:r>
          </a:p>
        </p:txBody>
      </p:sp>
      <p:sp>
        <p:nvSpPr>
          <p:cNvPr id="3" name="Espaço Reservado para Texto 2">
            <a:extLst>
              <a:ext uri="{FF2B5EF4-FFF2-40B4-BE49-F238E27FC236}">
                <a16:creationId xmlns:a16="http://schemas.microsoft.com/office/drawing/2014/main" id="{CE3F962E-6A6F-4D68-89AF-60CCD3AAD952}"/>
              </a:ext>
            </a:extLst>
          </p:cNvPr>
          <p:cNvSpPr>
            <a:spLocks noGrp="1"/>
          </p:cNvSpPr>
          <p:nvPr>
            <p:ph type="body" idx="1"/>
          </p:nvPr>
        </p:nvSpPr>
        <p:spPr>
          <a:xfrm>
            <a:off x="1104293" y="1541930"/>
            <a:ext cx="8946541" cy="4195481"/>
          </a:xfrm>
        </p:spPr>
        <p:txBody>
          <a:bodyPr>
            <a:noAutofit/>
          </a:bodyPr>
          <a:lstStyle/>
          <a:p>
            <a:r>
              <a:rPr lang="pt-BR" sz="2400" dirty="0"/>
              <a:t>Embora seu uso seja desaconselhado em redes modernas, o Telnet ainda possui utilidade para testes, diagnósticos e manipulação de portas de rede. Ferramentas como </a:t>
            </a:r>
            <a:r>
              <a:rPr lang="pt-BR" sz="2400" dirty="0" err="1"/>
              <a:t>telnet</a:t>
            </a:r>
            <a:r>
              <a:rPr lang="pt-BR" sz="2400" dirty="0"/>
              <a:t> </a:t>
            </a:r>
            <a:r>
              <a:rPr lang="pt-BR" sz="2400" dirty="0" err="1"/>
              <a:t>hostname</a:t>
            </a:r>
            <a:r>
              <a:rPr lang="pt-BR" sz="2400" dirty="0"/>
              <a:t> porta permitem verificar conectividade e funcionamento de serviços. Técnicos utilizam Telnet para testar servidores Web, SMTP, POP3 e outras aplicações baseadas em TCP. Além disso, alguns sistemas embarcados antigos só podem ser administrados via Telnet. Portanto, embora inseguro para administração remota, ele ainda possui valor em cenários específicos, especialmente quando combinado com redes isoladas ou ambientes de laboratório.</a:t>
            </a:r>
          </a:p>
        </p:txBody>
      </p:sp>
    </p:spTree>
    <p:extLst>
      <p:ext uri="{BB962C8B-B14F-4D97-AF65-F5344CB8AC3E}">
        <p14:creationId xmlns:p14="http://schemas.microsoft.com/office/powerpoint/2010/main" val="1462508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F5364F-62EA-45A8-A07E-A47A2E1ECC7A}"/>
              </a:ext>
            </a:extLst>
          </p:cNvPr>
          <p:cNvSpPr>
            <a:spLocks noGrp="1"/>
          </p:cNvSpPr>
          <p:nvPr>
            <p:ph type="title"/>
          </p:nvPr>
        </p:nvSpPr>
        <p:spPr/>
        <p:txBody>
          <a:bodyPr/>
          <a:lstStyle/>
          <a:p>
            <a:r>
              <a:rPr lang="pt-BR" dirty="0">
                <a:effectLst>
                  <a:outerShdw blurRad="38100" dist="38100" dir="2700000" algn="tl">
                    <a:srgbClr val="000000">
                      <a:alpha val="43137"/>
                    </a:srgbClr>
                  </a:outerShdw>
                </a:effectLst>
              </a:rPr>
              <a:t>Conclusão</a:t>
            </a:r>
          </a:p>
        </p:txBody>
      </p:sp>
      <p:sp>
        <p:nvSpPr>
          <p:cNvPr id="3" name="Espaço Reservado para Texto 2">
            <a:extLst>
              <a:ext uri="{FF2B5EF4-FFF2-40B4-BE49-F238E27FC236}">
                <a16:creationId xmlns:a16="http://schemas.microsoft.com/office/drawing/2014/main" id="{8FBCA06C-AD0F-4EB9-9BA2-C9D17A125DA8}"/>
              </a:ext>
            </a:extLst>
          </p:cNvPr>
          <p:cNvSpPr>
            <a:spLocks noGrp="1"/>
          </p:cNvSpPr>
          <p:nvPr>
            <p:ph type="body" idx="1"/>
          </p:nvPr>
        </p:nvSpPr>
        <p:spPr>
          <a:xfrm>
            <a:off x="1104293" y="1331259"/>
            <a:ext cx="8946541" cy="4195481"/>
          </a:xfrm>
        </p:spPr>
        <p:txBody>
          <a:bodyPr>
            <a:noAutofit/>
          </a:bodyPr>
          <a:lstStyle/>
          <a:p>
            <a:r>
              <a:rPr lang="pt-BR" sz="2400" dirty="0">
                <a:effectLst>
                  <a:outerShdw blurRad="38100" dist="38100" dir="2700000" algn="tl">
                    <a:srgbClr val="000000">
                      <a:alpha val="43137"/>
                    </a:srgbClr>
                  </a:outerShdw>
                </a:effectLst>
              </a:rPr>
              <a:t>O Telnet desempenhou um papel fundamental na história da computação e das redes. Ele permitiu que profissionais acessassem sistemas de forma remota décadas antes da popularização da Internet moderna. Apesar disso, sua falta de segurança o tornou obsoleto, sendo fortemente substituído por tecnologias mais modernas e confiáveis. Mesmo assim, compreender seu funcionamento, suas vantagens e suas limitações é importante para profissionais da área, especialmente para quem trabalha com redes, dispositivos legados e diagnósticos de serviços TCP. O Telnet permanece como uma peça histórica e educacional importante dentro do universo da administração de sistemas e da evolução dos protocolos de comunicação.</a:t>
            </a:r>
          </a:p>
        </p:txBody>
      </p:sp>
    </p:spTree>
    <p:extLst>
      <p:ext uri="{BB962C8B-B14F-4D97-AF65-F5344CB8AC3E}">
        <p14:creationId xmlns:p14="http://schemas.microsoft.com/office/powerpoint/2010/main" val="15604962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Íon">
  <a:themeElements>
    <a:clrScheme name="Í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Í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Í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D26C7C51C8B5B4EB2F45B485711B3B7" ma:contentTypeVersion="15" ma:contentTypeDescription="Crie um novo documento." ma:contentTypeScope="" ma:versionID="06eeb2cb891bf1875b3eecb032cf16ac">
  <xsd:schema xmlns:xsd="http://www.w3.org/2001/XMLSchema" xmlns:xs="http://www.w3.org/2001/XMLSchema" xmlns:p="http://schemas.microsoft.com/office/2006/metadata/properties" xmlns:ns3="be2b1bf4-f208-43d2-abb9-a0a80c0092ed" xmlns:ns4="3a0e524e-323f-4ebf-8660-96f3b9bb9f8f" targetNamespace="http://schemas.microsoft.com/office/2006/metadata/properties" ma:root="true" ma:fieldsID="dc768360b14c7dbeb0ae3b407da4a3d1" ns3:_="" ns4:_="">
    <xsd:import namespace="be2b1bf4-f208-43d2-abb9-a0a80c0092ed"/>
    <xsd:import namespace="3a0e524e-323f-4ebf-8660-96f3b9bb9f8f"/>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AutoTags" minOccurs="0"/>
                <xsd:element ref="ns3:MediaServiceGenerationTime" minOccurs="0"/>
                <xsd:element ref="ns3:MediaServiceEventHashCode" minOccurs="0"/>
                <xsd:element ref="ns3:MediaServiceOCR" minOccurs="0"/>
                <xsd:element ref="ns3:MediaServiceSystemTag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2b1bf4-f208-43d2-abb9-a0a80c0092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SystemTags" ma:index="15" nillable="true" ma:displayName="MediaServiceSystemTags" ma:hidden="true" ma:internalName="MediaServiceSystemTags" ma:readOnly="true">
      <xsd:simpleType>
        <xsd:restriction base="dms:Note"/>
      </xsd:simpleType>
    </xsd:element>
    <xsd:element name="_activity" ma:index="16" nillable="true" ma:displayName="_activity" ma:hidden="true" ma:internalName="_activity">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a0e524e-323f-4ebf-8660-96f3b9bb9f8f" elementFormDefault="qualified">
    <xsd:import namespace="http://schemas.microsoft.com/office/2006/documentManagement/types"/>
    <xsd:import namespace="http://schemas.microsoft.com/office/infopath/2007/PartnerControls"/>
    <xsd:element name="SharedWithUsers" ma:index="17"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Detalhes de Compartilhado Com" ma:internalName="SharedWithDetails" ma:readOnly="true">
      <xsd:simpleType>
        <xsd:restriction base="dms:Note">
          <xsd:maxLength value="255"/>
        </xsd:restriction>
      </xsd:simpleType>
    </xsd:element>
    <xsd:element name="SharingHintHash" ma:index="19" nillable="true" ma:displayName="Hash de Dica de Compartilhamento"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be2b1bf4-f208-43d2-abb9-a0a80c0092ed" xsi:nil="true"/>
  </documentManagement>
</p:properties>
</file>

<file path=customXml/itemProps1.xml><?xml version="1.0" encoding="utf-8"?>
<ds:datastoreItem xmlns:ds="http://schemas.openxmlformats.org/officeDocument/2006/customXml" ds:itemID="{BB507BFE-4F55-4768-AA0E-971F0D0D08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2b1bf4-f208-43d2-abb9-a0a80c0092ed"/>
    <ds:schemaRef ds:uri="3a0e524e-323f-4ebf-8660-96f3b9bb9f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5272A7-F98B-432C-A418-ADCB3CD2BEDF}">
  <ds:schemaRefs>
    <ds:schemaRef ds:uri="http://schemas.microsoft.com/sharepoint/v3/contenttype/forms"/>
  </ds:schemaRefs>
</ds:datastoreItem>
</file>

<file path=customXml/itemProps3.xml><?xml version="1.0" encoding="utf-8"?>
<ds:datastoreItem xmlns:ds="http://schemas.openxmlformats.org/officeDocument/2006/customXml" ds:itemID="{945EC058-C6A8-4039-90C3-54D6CF9CF2A5}">
  <ds:schemaRefs>
    <ds:schemaRef ds:uri="http://schemas.microsoft.com/office/2006/metadata/properties"/>
    <ds:schemaRef ds:uri="http://purl.org/dc/terms/"/>
    <ds:schemaRef ds:uri="http://schemas.microsoft.com/office/2006/documentManagement/types"/>
    <ds:schemaRef ds:uri="http://purl.org/dc/elements/1.1/"/>
    <ds:schemaRef ds:uri="be2b1bf4-f208-43d2-abb9-a0a80c0092ed"/>
    <ds:schemaRef ds:uri="http://schemas.openxmlformats.org/package/2006/metadata/core-properties"/>
    <ds:schemaRef ds:uri="3a0e524e-323f-4ebf-8660-96f3b9bb9f8f"/>
    <ds:schemaRef ds:uri="http://www.w3.org/XML/1998/namespace"/>
    <ds:schemaRef ds:uri="http://purl.org/dc/dcmityp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Ion</Template>
  <TotalTime>3</TotalTime>
  <Words>780</Words>
  <Application>Microsoft Office PowerPoint</Application>
  <PresentationFormat>Widescreen</PresentationFormat>
  <Paragraphs>16</Paragraphs>
  <Slides>8</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8</vt:i4>
      </vt:variant>
    </vt:vector>
  </HeadingPairs>
  <TitlesOfParts>
    <vt:vector size="12" baseType="lpstr">
      <vt:lpstr>Arial</vt:lpstr>
      <vt:lpstr>Century Gothic</vt:lpstr>
      <vt:lpstr>Wingdings 3</vt:lpstr>
      <vt:lpstr>Íon</vt:lpstr>
      <vt:lpstr>Serviço TELNET</vt:lpstr>
      <vt:lpstr>O que é o Telnet?</vt:lpstr>
      <vt:lpstr>Como o Telnet Funciona?</vt:lpstr>
      <vt:lpstr>Usos Clássicos do Telnet</vt:lpstr>
      <vt:lpstr>Problemas de Segurança</vt:lpstr>
      <vt:lpstr>Alternativas ao Telnet</vt:lpstr>
      <vt:lpstr>O Telnet nos Dias Atuais</vt:lpstr>
      <vt:lpstr>Conclusão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Serviço TELNET</dc:title>
  <dc:creator>Andre Lourenco Bagnoli</dc:creator>
  <cp:lastModifiedBy>Andre Lourenco Bagnoli</cp:lastModifiedBy>
  <cp:revision>1</cp:revision>
  <dcterms:created xsi:type="dcterms:W3CDTF">2026-02-24T17:02:55Z</dcterms:created>
  <dcterms:modified xsi:type="dcterms:W3CDTF">2026-02-24T17:06:35Z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0x010100ED26C7C51C8B5B4EB2F45B485711B3B7</vt:lpwstr>
  </property>
</Properties>
</file>